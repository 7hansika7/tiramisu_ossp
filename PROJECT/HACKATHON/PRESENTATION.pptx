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IBM Plex Mono" panose="020B0509050203000203" pitchFamily="49" charset="0"/>
      <p:regular r:id="rId17"/>
    </p:embeddedFont>
    <p:embeddedFont>
      <p:font typeface="IBM Plex Mono Bold" panose="020B0604020202020204" charset="0"/>
      <p:regular r:id="rId18"/>
    </p:embeddedFont>
    <p:embeddedFont>
      <p:font typeface="IBM Plex Sans Bold" panose="020B0604020202020204" charset="0"/>
      <p:regular r:id="rId19"/>
    </p:embeddedFont>
    <p:embeddedFont>
      <p:font typeface="Source Sans 3" panose="020B0604020202020204" charset="0"/>
      <p:regular r:id="rId20"/>
    </p:embeddedFont>
    <p:embeddedFont>
      <p:font typeface="Source Sans 3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7D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28600" cy="10287000"/>
            <a:chOff x="0" y="0"/>
            <a:chExt cx="304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4800" cy="13716000"/>
            </a:xfrm>
            <a:custGeom>
              <a:avLst/>
              <a:gdLst/>
              <a:ahLst/>
              <a:cxnLst/>
              <a:rect l="l" t="t" r="r" b="b"/>
              <a:pathLst>
                <a:path w="304800" h="13716000">
                  <a:moveTo>
                    <a:pt x="0" y="0"/>
                  </a:moveTo>
                  <a:lnTo>
                    <a:pt x="304800" y="0"/>
                  </a:lnTo>
                  <a:lnTo>
                    <a:pt x="304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F7D5B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48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17270" y="2378855"/>
            <a:ext cx="16584984" cy="114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6"/>
              </a:lnSpc>
            </a:pPr>
            <a:r>
              <a:rPr lang="en-US" sz="8400" b="1" dirty="0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Linux Process Tree Visualizer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7750" y="3749187"/>
            <a:ext cx="10610850" cy="450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32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Live process hierarchy using the Linux /proc filesystem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7750" y="7296150"/>
            <a:ext cx="16192500" cy="19050"/>
            <a:chOff x="0" y="0"/>
            <a:chExt cx="21590000" cy="25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4C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47750" y="7315200"/>
            <a:ext cx="7620000" cy="272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b="1" spc="93" dirty="0">
                <a:latin typeface="Source Sans 3"/>
                <a:ea typeface="Source Sans 3"/>
                <a:cs typeface="Source Sans 3"/>
                <a:sym typeface="Source Sans 3"/>
              </a:rPr>
              <a:t>Team Members:</a:t>
            </a:r>
          </a:p>
          <a:p>
            <a:pPr algn="l">
              <a:lnSpc>
                <a:spcPct val="150000"/>
              </a:lnSpc>
            </a:pPr>
            <a:r>
              <a:rPr lang="en-US" sz="2400" spc="93" dirty="0">
                <a:latin typeface="Source Sans 3"/>
                <a:ea typeface="Source Sans 3"/>
                <a:cs typeface="Source Sans 3"/>
                <a:sym typeface="Source Sans 3"/>
              </a:rPr>
              <a:t>Teja Hasini Reddy - 2520030048</a:t>
            </a:r>
          </a:p>
          <a:p>
            <a:pPr>
              <a:lnSpc>
                <a:spcPct val="150000"/>
              </a:lnSpc>
            </a:pPr>
            <a:r>
              <a:rPr lang="en-US" sz="2400" spc="93" dirty="0">
                <a:latin typeface="Source Sans 3"/>
                <a:ea typeface="Source Sans 3"/>
                <a:cs typeface="Source Sans 3"/>
                <a:sym typeface="Source Sans 3"/>
              </a:rPr>
              <a:t>Hansika Reddy - 2520030237</a:t>
            </a:r>
          </a:p>
          <a:p>
            <a:pPr>
              <a:lnSpc>
                <a:spcPct val="150000"/>
              </a:lnSpc>
            </a:pPr>
            <a:r>
              <a:rPr lang="en-US" sz="2400" spc="93" dirty="0">
                <a:latin typeface="Source Sans 3"/>
                <a:ea typeface="Source Sans 3"/>
                <a:cs typeface="Source Sans 3"/>
                <a:sym typeface="Source Sans 3"/>
              </a:rPr>
              <a:t>Simran Jangid - 2520030166</a:t>
            </a:r>
          </a:p>
          <a:p>
            <a:pPr>
              <a:lnSpc>
                <a:spcPct val="150000"/>
              </a:lnSpc>
            </a:pPr>
            <a:r>
              <a:rPr lang="en-US" sz="2400" spc="93" dirty="0">
                <a:latin typeface="Source Sans 3"/>
                <a:ea typeface="Source Sans 3"/>
                <a:cs typeface="Source Sans 3"/>
                <a:sym typeface="Source Sans 3"/>
              </a:rPr>
              <a:t>Anthony Nissy - 2520030064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36093-D5B3-6A9F-BEC8-3A7CB538D7F9}"/>
              </a:ext>
            </a:extLst>
          </p:cNvPr>
          <p:cNvSpPr txBox="1"/>
          <p:nvPr/>
        </p:nvSpPr>
        <p:spPr>
          <a:xfrm>
            <a:off x="1017270" y="5017862"/>
            <a:ext cx="11830050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pc="93" dirty="0">
                <a:latin typeface="Source Sans 3"/>
                <a:ea typeface="Source Sans 3"/>
                <a:cs typeface="Source Sans 3"/>
                <a:sym typeface="Source Sans 3"/>
              </a:rPr>
              <a:t>Operating Systems and Systems Programming (25CS2104E)</a:t>
            </a:r>
          </a:p>
          <a:p>
            <a:r>
              <a:rPr lang="en-US" sz="3200" spc="93" dirty="0">
                <a:latin typeface="Source Sans 3"/>
                <a:ea typeface="Source Sans 3"/>
                <a:cs typeface="Source Sans 3"/>
                <a:sym typeface="Source Sans 3"/>
              </a:rPr>
              <a:t>Faculty: Dr. Muniraju Naidu</a:t>
            </a:r>
          </a:p>
          <a:p>
            <a:pPr>
              <a:lnSpc>
                <a:spcPts val="2437"/>
              </a:lnSpc>
            </a:pPr>
            <a:endParaRPr lang="en-US" sz="3200" spc="93" dirty="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0AB15B-B5DE-C250-9CAB-4D37A7E60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3055"/>
            <a:ext cx="3749365" cy="1905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14375"/>
            <a:ext cx="15716250" cy="63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1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 Overview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6192500" cy="19050"/>
            <a:chOff x="0" y="0"/>
            <a:chExt cx="21590000" cy="25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4C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750" y="1762125"/>
            <a:ext cx="14287500" cy="3239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645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A compact systems tool that turns Linux process metadata into a live, readable hierarchy.</a:t>
            </a:r>
          </a:p>
          <a:p>
            <a:pPr marL="457200" indent="-457200">
              <a:lnSpc>
                <a:spcPts val="3645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Reads process metadata exposed by the Linux kernel through /proc.</a:t>
            </a:r>
          </a:p>
          <a:p>
            <a:pPr marL="457200" indent="-457200">
              <a:lnSpc>
                <a:spcPts val="3645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Collects each process's PID, parent PID (PPID), name, and state, then displays parent-child links as a tree.</a:t>
            </a:r>
          </a:p>
          <a:p>
            <a:pPr marL="457200" indent="-457200">
              <a:lnSpc>
                <a:spcPts val="3645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live view refreshes periodically so newly started or terminated processes can be noticed.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7751" y="5143500"/>
            <a:ext cx="7524750" cy="4857750"/>
            <a:chOff x="0" y="0"/>
            <a:chExt cx="10033000" cy="6477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0033000" cy="6477000"/>
              <a:chOff x="0" y="0"/>
              <a:chExt cx="10033000" cy="6477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0033000" cy="64770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6477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6477000"/>
                    </a:lnTo>
                    <a:lnTo>
                      <a:pt x="0" y="647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0033000" cy="651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32423" y="1041400"/>
              <a:ext cx="8636000" cy="4770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2800" b="1" dirty="0">
                  <a:solidFill>
                    <a:srgbClr val="2F7D5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WHAT IT DISPLAYS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2423" y="2408543"/>
              <a:ext cx="8636000" cy="16218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38"/>
                </a:lnSpc>
              </a:pPr>
              <a:r>
                <a:rPr lang="en-US" sz="2800" dirty="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PID, parent PID, command name, state, and depth — arranged as parent → child relationships.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92053" y="5143500"/>
            <a:ext cx="7524750" cy="4857750"/>
            <a:chOff x="0" y="0"/>
            <a:chExt cx="10033000" cy="6477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033000" cy="6477000"/>
              <a:chOff x="0" y="0"/>
              <a:chExt cx="10033000" cy="6477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033000" cy="64770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6477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6477000"/>
                    </a:lnTo>
                    <a:lnTo>
                      <a:pt x="0" y="6477000"/>
                    </a:lnTo>
                    <a:close/>
                  </a:path>
                </a:pathLst>
              </a:custGeom>
              <a:solidFill>
                <a:srgbClr val="DCEBE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0033000" cy="651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71500" y="1041400"/>
              <a:ext cx="8636000" cy="4770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2800" b="1" dirty="0">
                  <a:solidFill>
                    <a:srgbClr val="2F7D5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WHY IT MATTERS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1500" y="2424359"/>
              <a:ext cx="8636000" cy="15901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38"/>
                </a:lnSpc>
              </a:pPr>
              <a:r>
                <a:rPr lang="en-US" sz="2800" dirty="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Hierarchy helps diagnose runaway jobs, inspect shells and services, and understand how Linux creates and manages processes.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F0327E91-80CD-2265-AFF2-DD512D9C2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82" y="91672"/>
            <a:ext cx="2476036" cy="12581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14375"/>
            <a:ext cx="15716250" cy="63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1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Problem Statement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6192500" cy="19050"/>
            <a:chOff x="0" y="0"/>
            <a:chExt cx="21590000" cy="25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4C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750" y="2047875"/>
            <a:ext cx="14287500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8"/>
              </a:lnSpc>
            </a:pPr>
            <a:r>
              <a:rPr lang="en-US" sz="3075" b="1" dirty="0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Linux exposes process data - but not as an immediately understandable tree.</a:t>
            </a:r>
          </a:p>
          <a:p>
            <a:pPr algn="l">
              <a:lnSpc>
                <a:spcPts val="3198"/>
              </a:lnSpc>
            </a:pPr>
            <a:endParaRPr lang="en-US" sz="3075" b="1" dirty="0">
              <a:solidFill>
                <a:srgbClr val="0D2438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334000" y="7658100"/>
            <a:ext cx="1524000" cy="0"/>
          </a:xfrm>
          <a:prstGeom prst="line">
            <a:avLst/>
          </a:prstGeom>
          <a:ln w="28575" cap="rnd">
            <a:solidFill>
              <a:srgbClr val="2F7D5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" name="AutoShape 8"/>
          <p:cNvSpPr/>
          <p:nvPr/>
        </p:nvSpPr>
        <p:spPr>
          <a:xfrm>
            <a:off x="11191875" y="7658100"/>
            <a:ext cx="1524000" cy="0"/>
          </a:xfrm>
          <a:prstGeom prst="line">
            <a:avLst/>
          </a:prstGeom>
          <a:ln w="28575" cap="rnd">
            <a:solidFill>
              <a:srgbClr val="2F7D5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9" name="Group 9"/>
          <p:cNvGrpSpPr/>
          <p:nvPr/>
        </p:nvGrpSpPr>
        <p:grpSpPr>
          <a:xfrm>
            <a:off x="1047750" y="6038850"/>
            <a:ext cx="4476750" cy="3143250"/>
            <a:chOff x="0" y="0"/>
            <a:chExt cx="5969000" cy="4191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5969000" cy="4191000"/>
              <a:chOff x="0" y="0"/>
              <a:chExt cx="5969000" cy="4191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9690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969000" h="4191000">
                    <a:moveTo>
                      <a:pt x="0" y="0"/>
                    </a:moveTo>
                    <a:lnTo>
                      <a:pt x="5969000" y="0"/>
                    </a:lnTo>
                    <a:lnTo>
                      <a:pt x="5969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59690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08000" y="406400"/>
              <a:ext cx="4953000" cy="464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800" b="1" dirty="0">
                  <a:solidFill>
                    <a:srgbClr val="2F7D5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RAW INPUT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8000" y="1381864"/>
              <a:ext cx="4953000" cy="15542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800" dirty="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Hundreds of numeric /proc directories and status files.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05625" y="6038850"/>
            <a:ext cx="4476750" cy="3143250"/>
            <a:chOff x="0" y="0"/>
            <a:chExt cx="5969000" cy="4191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5969000" cy="4191000"/>
              <a:chOff x="0" y="0"/>
              <a:chExt cx="5969000" cy="4191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9690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969000" h="4191000">
                    <a:moveTo>
                      <a:pt x="0" y="0"/>
                    </a:moveTo>
                    <a:lnTo>
                      <a:pt x="5969000" y="0"/>
                    </a:lnTo>
                    <a:lnTo>
                      <a:pt x="5969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DCEBE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59690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508000" y="406400"/>
              <a:ext cx="4953000" cy="464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800" b="1" dirty="0">
                  <a:solidFill>
                    <a:srgbClr val="2F7D5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ENGINEERING NEED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8000" y="1418743"/>
              <a:ext cx="4953000" cy="15542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800" dirty="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Safely scan changing data and reconstruct parent–child links.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763500" y="6038850"/>
            <a:ext cx="4476750" cy="3143250"/>
            <a:chOff x="0" y="0"/>
            <a:chExt cx="5969000" cy="41910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5969000" cy="4191000"/>
              <a:chOff x="0" y="0"/>
              <a:chExt cx="5969000" cy="4191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9690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969000" h="4191000">
                    <a:moveTo>
                      <a:pt x="0" y="0"/>
                    </a:moveTo>
                    <a:lnTo>
                      <a:pt x="5969000" y="0"/>
                    </a:lnTo>
                    <a:lnTo>
                      <a:pt x="5969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59690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508000" y="406400"/>
              <a:ext cx="4953000" cy="464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800" b="1" dirty="0">
                  <a:solidFill>
                    <a:srgbClr val="2F7D5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USEFUL OUTPUT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8000" y="1418743"/>
              <a:ext cx="4953000" cy="15542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800" dirty="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 refreshed terminal tree that remains clear and interruptible.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9484565-0B72-EF3A-A824-DA41622E05D5}"/>
              </a:ext>
            </a:extLst>
          </p:cNvPr>
          <p:cNvSpPr txBox="1"/>
          <p:nvPr/>
        </p:nvSpPr>
        <p:spPr>
          <a:xfrm>
            <a:off x="1047750" y="2648382"/>
            <a:ext cx="148780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/proc directory contains many numeric entries, each representing a process, and the list can change while it is being read.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 flat process list makes it harder to see which shell, service, or task started another process.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program must tolerate entries disappearing during a scan and still produce readable output.</a:t>
            </a:r>
            <a:endParaRPr lang="en-IN" sz="3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3F4FDA6-829B-0926-775F-8030E6FBF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82" y="91672"/>
            <a:ext cx="2476036" cy="12581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14375"/>
            <a:ext cx="15716250" cy="63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1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Objectives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6192500" cy="19050"/>
            <a:chOff x="0" y="0"/>
            <a:chExt cx="21590000" cy="25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4C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3257550"/>
            <a:ext cx="4953000" cy="2667000"/>
            <a:chOff x="0" y="0"/>
            <a:chExt cx="6604000" cy="3556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604000" cy="3556000"/>
              <a:chOff x="0" y="0"/>
              <a:chExt cx="6604000" cy="3556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604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556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604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82600" y="368300"/>
              <a:ext cx="1143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4050" b="1">
                  <a:solidFill>
                    <a:srgbClr val="2F7D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2600" y="1495425"/>
              <a:ext cx="5461000" cy="1031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800" dirty="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Discover active processes from /proc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72250" y="3257550"/>
            <a:ext cx="4953000" cy="2667000"/>
            <a:chOff x="0" y="0"/>
            <a:chExt cx="6604000" cy="3556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604000" cy="3556000"/>
              <a:chOff x="0" y="0"/>
              <a:chExt cx="6604000" cy="3556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604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556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DCEBE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6604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82600" y="368300"/>
              <a:ext cx="1143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4050" b="1">
                  <a:solidFill>
                    <a:srgbClr val="2F7D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2600" y="1495425"/>
              <a:ext cx="5461000" cy="1011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800" dirty="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Parse PID, PPID, name, and state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096750" y="3257550"/>
            <a:ext cx="4953000" cy="2667000"/>
            <a:chOff x="0" y="0"/>
            <a:chExt cx="6604000" cy="3556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6604000" cy="3556000"/>
              <a:chOff x="0" y="0"/>
              <a:chExt cx="6604000" cy="3556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604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556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6604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82600" y="368300"/>
              <a:ext cx="1143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4050" b="1">
                  <a:solidFill>
                    <a:srgbClr val="2F7D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2600" y="1495425"/>
              <a:ext cx="5461000" cy="1011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800" dirty="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Build correct parent–child relationships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47750" y="6591300"/>
            <a:ext cx="4953000" cy="2667000"/>
            <a:chOff x="0" y="0"/>
            <a:chExt cx="6604000" cy="3556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604000" cy="3556000"/>
              <a:chOff x="0" y="0"/>
              <a:chExt cx="6604000" cy="3556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604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556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6604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82600" y="368300"/>
              <a:ext cx="1143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4050" b="1">
                  <a:solidFill>
                    <a:srgbClr val="2F7D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2600" y="1495425"/>
              <a:ext cx="5461000" cy="1011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800" dirty="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Render a stable, readable terminal tree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572250" y="6591300"/>
            <a:ext cx="4953000" cy="2667000"/>
            <a:chOff x="0" y="0"/>
            <a:chExt cx="6604000" cy="35560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6604000" cy="3556000"/>
              <a:chOff x="0" y="0"/>
              <a:chExt cx="6604000" cy="3556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604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556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DCEBE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6604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482600" y="368300"/>
              <a:ext cx="1143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4050" b="1">
                  <a:solidFill>
                    <a:srgbClr val="2F7D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2600" y="1495425"/>
              <a:ext cx="5461000" cy="1011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800" dirty="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Support one-shot and live refresh modes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096750" y="6591300"/>
            <a:ext cx="4953000" cy="2667000"/>
            <a:chOff x="0" y="0"/>
            <a:chExt cx="6604000" cy="35560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6604000" cy="3556000"/>
              <a:chOff x="0" y="0"/>
              <a:chExt cx="6604000" cy="3556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604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556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6604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482600" y="368300"/>
              <a:ext cx="1143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4050" b="1">
                  <a:solidFill>
                    <a:srgbClr val="2F7D5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2600" y="1495425"/>
              <a:ext cx="5461000" cy="1011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800" dirty="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Exit cleanly on SIGINT or SIGTERM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C923D4E-FC45-1242-1FC7-C4A1CE2FAE0C}"/>
              </a:ext>
            </a:extLst>
          </p:cNvPr>
          <p:cNvSpPr txBox="1"/>
          <p:nvPr/>
        </p:nvSpPr>
        <p:spPr>
          <a:xfrm>
            <a:off x="1047750" y="1778405"/>
            <a:ext cx="1600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Design priority: </a:t>
            </a:r>
            <a:r>
              <a:rPr lang="en-US" sz="3200" dirty="0"/>
              <a:t>show parent-child relationships clearly, keep refresh behavior predictable, and stop cleanly when the user interrupts the program.</a:t>
            </a:r>
            <a:endParaRPr lang="en-IN" sz="32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74ECA4F5-5AC2-E231-F84A-63AF367E8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82" y="114300"/>
            <a:ext cx="2476036" cy="12581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14375"/>
            <a:ext cx="15716250" cy="63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1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Technologies Used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6192500" cy="19050"/>
            <a:chOff x="0" y="0"/>
            <a:chExt cx="21590000" cy="25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4C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1930644"/>
            <a:ext cx="16192500" cy="571500"/>
            <a:chOff x="0" y="0"/>
            <a:chExt cx="21590000" cy="762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90000" cy="762000"/>
            </a:xfrm>
            <a:custGeom>
              <a:avLst/>
              <a:gdLst/>
              <a:ahLst/>
              <a:cxnLst/>
              <a:rect l="l" t="t" r="r" b="b"/>
              <a:pathLst>
                <a:path w="21590000" h="762000">
                  <a:moveTo>
                    <a:pt x="0" y="0"/>
                  </a:moveTo>
                  <a:lnTo>
                    <a:pt x="21590000" y="0"/>
                  </a:lnTo>
                  <a:lnTo>
                    <a:pt x="21590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D2438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590000" cy="80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38250" y="2107661"/>
            <a:ext cx="342900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800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TECHNOLOGY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43500" y="2107661"/>
            <a:ext cx="371475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800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PURPOSE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46223" y="2107661"/>
            <a:ext cx="742950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800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HOW IT IS USED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71196" y="2810774"/>
            <a:ext cx="16192500" cy="819150"/>
            <a:chOff x="0" y="0"/>
            <a:chExt cx="21590000" cy="1092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90000" cy="1092200"/>
            </a:xfrm>
            <a:custGeom>
              <a:avLst/>
              <a:gdLst/>
              <a:ahLst/>
              <a:cxnLst/>
              <a:rect l="l" t="t" r="r" b="b"/>
              <a:pathLst>
                <a:path w="21590000" h="1092200">
                  <a:moveTo>
                    <a:pt x="0" y="0"/>
                  </a:moveTo>
                  <a:lnTo>
                    <a:pt x="21590000" y="0"/>
                  </a:lnTo>
                  <a:lnTo>
                    <a:pt x="21590000" y="1092200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590000" cy="113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69402" y="2802417"/>
            <a:ext cx="3429000" cy="3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3200" b="1" dirty="0">
                <a:solidFill>
                  <a:srgbClr val="183044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84885" y="2829823"/>
            <a:ext cx="3714750" cy="367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Core implementation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34500" y="2852322"/>
            <a:ext cx="7429500" cy="367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Scanning, parsing, sorting, and rendering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47750" y="3495675"/>
            <a:ext cx="16192500" cy="819150"/>
            <a:chOff x="0" y="0"/>
            <a:chExt cx="21590000" cy="1092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590000" cy="1092200"/>
            </a:xfrm>
            <a:custGeom>
              <a:avLst/>
              <a:gdLst/>
              <a:ahLst/>
              <a:cxnLst/>
              <a:rect l="l" t="t" r="r" b="b"/>
              <a:pathLst>
                <a:path w="21590000" h="1092200">
                  <a:moveTo>
                    <a:pt x="0" y="0"/>
                  </a:moveTo>
                  <a:lnTo>
                    <a:pt x="21590000" y="0"/>
                  </a:lnTo>
                  <a:lnTo>
                    <a:pt x="21590000" y="1092200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EEF3EF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590000" cy="113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38250" y="3609975"/>
            <a:ext cx="342900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 b="1">
                <a:solidFill>
                  <a:srgbClr val="183044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Linux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43500" y="3609975"/>
            <a:ext cx="371475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Execution platform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34500" y="3609975"/>
            <a:ext cx="742950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>
                <a:latin typeface="Source Sans 3"/>
                <a:ea typeface="Source Sans 3"/>
                <a:cs typeface="Source Sans 3"/>
                <a:sym typeface="Source Sans 3"/>
              </a:rPr>
              <a:t>Provides processes and POSIX behaviour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47750" y="4362450"/>
            <a:ext cx="16192500" cy="819150"/>
            <a:chOff x="0" y="0"/>
            <a:chExt cx="21590000" cy="1092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590000" cy="1092200"/>
            </a:xfrm>
            <a:custGeom>
              <a:avLst/>
              <a:gdLst/>
              <a:ahLst/>
              <a:cxnLst/>
              <a:rect l="l" t="t" r="r" b="b"/>
              <a:pathLst>
                <a:path w="21590000" h="1092200">
                  <a:moveTo>
                    <a:pt x="0" y="0"/>
                  </a:moveTo>
                  <a:lnTo>
                    <a:pt x="21590000" y="0"/>
                  </a:lnTo>
                  <a:lnTo>
                    <a:pt x="21590000" y="1092200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1590000" cy="113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38250" y="4476750"/>
            <a:ext cx="342900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 b="1">
                <a:solidFill>
                  <a:srgbClr val="183044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/proc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43500" y="4476750"/>
            <a:ext cx="371475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>
                <a:latin typeface="Source Sans 3"/>
                <a:ea typeface="Source Sans 3"/>
                <a:cs typeface="Source Sans 3"/>
                <a:sym typeface="Source Sans 3"/>
              </a:rPr>
              <a:t>Process data source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34500" y="4476750"/>
            <a:ext cx="742950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>
                <a:latin typeface="Source Sans 3"/>
                <a:ea typeface="Source Sans 3"/>
                <a:cs typeface="Source Sans 3"/>
                <a:sym typeface="Source Sans 3"/>
              </a:rPr>
              <a:t>Reads numeric directories and status metadata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47750" y="5229225"/>
            <a:ext cx="16192500" cy="819150"/>
            <a:chOff x="0" y="0"/>
            <a:chExt cx="21590000" cy="1092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590000" cy="1092200"/>
            </a:xfrm>
            <a:custGeom>
              <a:avLst/>
              <a:gdLst/>
              <a:ahLst/>
              <a:cxnLst/>
              <a:rect l="l" t="t" r="r" b="b"/>
              <a:pathLst>
                <a:path w="21590000" h="1092200">
                  <a:moveTo>
                    <a:pt x="0" y="0"/>
                  </a:moveTo>
                  <a:lnTo>
                    <a:pt x="21590000" y="0"/>
                  </a:lnTo>
                  <a:lnTo>
                    <a:pt x="21590000" y="1092200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EEF3EF"/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590000" cy="113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238250" y="5343525"/>
            <a:ext cx="342900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 b="1" dirty="0">
                <a:solidFill>
                  <a:srgbClr val="183044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POSIX APIs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43500" y="5343525"/>
            <a:ext cx="371475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>
                <a:latin typeface="Source Sans 3"/>
                <a:ea typeface="Source Sans 3"/>
                <a:cs typeface="Source Sans 3"/>
                <a:sym typeface="Source Sans 3"/>
              </a:rPr>
              <a:t>System interface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34500" y="5343525"/>
            <a:ext cx="742950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>
                <a:latin typeface="Source Sans 3"/>
                <a:ea typeface="Source Sans 3"/>
                <a:cs typeface="Source Sans 3"/>
                <a:sym typeface="Source Sans 3"/>
              </a:rPr>
              <a:t>Directory, file, process, and timing calls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047750" y="6096000"/>
            <a:ext cx="16192500" cy="819150"/>
            <a:chOff x="0" y="0"/>
            <a:chExt cx="21590000" cy="1092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590000" cy="1092200"/>
            </a:xfrm>
            <a:custGeom>
              <a:avLst/>
              <a:gdLst/>
              <a:ahLst/>
              <a:cxnLst/>
              <a:rect l="l" t="t" r="r" b="b"/>
              <a:pathLst>
                <a:path w="21590000" h="1092200">
                  <a:moveTo>
                    <a:pt x="0" y="0"/>
                  </a:moveTo>
                  <a:lnTo>
                    <a:pt x="21590000" y="0"/>
                  </a:lnTo>
                  <a:lnTo>
                    <a:pt x="21590000" y="1092200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1590000" cy="113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238250" y="6210300"/>
            <a:ext cx="342900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 b="1">
                <a:solidFill>
                  <a:srgbClr val="183044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Signals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143500" y="6210300"/>
            <a:ext cx="371475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>
                <a:latin typeface="Source Sans 3"/>
                <a:ea typeface="Source Sans 3"/>
                <a:cs typeface="Source Sans 3"/>
                <a:sym typeface="Source Sans 3"/>
              </a:rPr>
              <a:t>Safe shutdown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34500" y="6210300"/>
            <a:ext cx="742950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>
                <a:latin typeface="Source Sans 3"/>
                <a:ea typeface="Source Sans 3"/>
                <a:cs typeface="Source Sans 3"/>
                <a:sym typeface="Source Sans 3"/>
              </a:rPr>
              <a:t>Handles SIGINT and SIGTERM with a flag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047750" y="6962775"/>
            <a:ext cx="16192500" cy="819150"/>
            <a:chOff x="0" y="0"/>
            <a:chExt cx="21590000" cy="10922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590000" cy="1092200"/>
            </a:xfrm>
            <a:custGeom>
              <a:avLst/>
              <a:gdLst/>
              <a:ahLst/>
              <a:cxnLst/>
              <a:rect l="l" t="t" r="r" b="b"/>
              <a:pathLst>
                <a:path w="21590000" h="1092200">
                  <a:moveTo>
                    <a:pt x="0" y="0"/>
                  </a:moveTo>
                  <a:lnTo>
                    <a:pt x="21590000" y="0"/>
                  </a:lnTo>
                  <a:lnTo>
                    <a:pt x="21590000" y="1092200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EEF3EF"/>
            </a:solidFill>
            <a:ln cap="sq">
              <a:noFill/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21590000" cy="113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38250" y="7077075"/>
            <a:ext cx="342900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 b="1">
                <a:solidFill>
                  <a:srgbClr val="183044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ANSI codes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43500" y="7077075"/>
            <a:ext cx="371475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>
                <a:latin typeface="Source Sans 3"/>
                <a:ea typeface="Source Sans 3"/>
                <a:cs typeface="Source Sans 3"/>
                <a:sym typeface="Source Sans 3"/>
              </a:rPr>
              <a:t>Terminal refresh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34500" y="7077075"/>
            <a:ext cx="742950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>
                <a:latin typeface="Source Sans 3"/>
                <a:ea typeface="Source Sans 3"/>
                <a:cs typeface="Source Sans 3"/>
                <a:sym typeface="Source Sans 3"/>
              </a:rPr>
              <a:t>Clears screen and restores cursor position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047750" y="7829550"/>
            <a:ext cx="16192500" cy="819150"/>
            <a:chOff x="0" y="0"/>
            <a:chExt cx="21590000" cy="10922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1590000" cy="1092200"/>
            </a:xfrm>
            <a:custGeom>
              <a:avLst/>
              <a:gdLst/>
              <a:ahLst/>
              <a:cxnLst/>
              <a:rect l="l" t="t" r="r" b="b"/>
              <a:pathLst>
                <a:path w="21590000" h="1092200">
                  <a:moveTo>
                    <a:pt x="0" y="0"/>
                  </a:moveTo>
                  <a:lnTo>
                    <a:pt x="21590000" y="0"/>
                  </a:lnTo>
                  <a:lnTo>
                    <a:pt x="21590000" y="1092200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1590000" cy="113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238250" y="7943850"/>
            <a:ext cx="342900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 b="1">
                <a:solidFill>
                  <a:srgbClr val="183044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GCC / compatible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43500" y="7943850"/>
            <a:ext cx="371475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>
                <a:latin typeface="Source Sans 3"/>
                <a:ea typeface="Source Sans 3"/>
                <a:cs typeface="Source Sans 3"/>
                <a:sym typeface="Source Sans 3"/>
              </a:rPr>
              <a:t>Build tool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334500" y="7943850"/>
            <a:ext cx="7429500" cy="34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800">
                <a:latin typeface="Source Sans 3"/>
                <a:ea typeface="Source Sans 3"/>
                <a:cs typeface="Source Sans 3"/>
                <a:sym typeface="Source Sans 3"/>
              </a:rPr>
              <a:t>Compiles with warnings enabled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F4677BA4-D3AF-77B9-2A66-825CD877D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82" y="91672"/>
            <a:ext cx="2476036" cy="12581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1428750"/>
            <a:ext cx="16192500" cy="19050"/>
            <a:chOff x="0" y="0"/>
            <a:chExt cx="21590000" cy="2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4C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1438275"/>
            <a:ext cx="18288000" cy="8848725"/>
          </a:xfrm>
          <a:custGeom>
            <a:avLst/>
            <a:gdLst/>
            <a:ahLst/>
            <a:cxnLst/>
            <a:rect l="l" t="t" r="r" b="b"/>
            <a:pathLst>
              <a:path w="18288000" h="8848725">
                <a:moveTo>
                  <a:pt x="0" y="0"/>
                </a:moveTo>
                <a:lnTo>
                  <a:pt x="18288000" y="0"/>
                </a:lnTo>
                <a:lnTo>
                  <a:pt x="18288000" y="8848725"/>
                </a:lnTo>
                <a:lnTo>
                  <a:pt x="0" y="8848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8" t="-18848" r="-108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47750" y="714375"/>
            <a:ext cx="15716250" cy="63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1" dirty="0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System Design /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0DFBF2-2036-B529-CE4C-A9E59B305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82" y="91672"/>
            <a:ext cx="2476036" cy="1258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14375"/>
            <a:ext cx="1571625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400" b="1" dirty="0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How the </a:t>
            </a:r>
            <a:r>
              <a:rPr lang="en-US" sz="4650" b="1" dirty="0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Program</a:t>
            </a:r>
            <a:r>
              <a:rPr lang="en-US" sz="4400" b="1" dirty="0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Works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6192500" cy="19050"/>
            <a:chOff x="0" y="0"/>
            <a:chExt cx="21590000" cy="25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4C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85875" y="2237079"/>
            <a:ext cx="13430250" cy="902010"/>
            <a:chOff x="0" y="-39828"/>
            <a:chExt cx="17907000" cy="1202681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117600" cy="1117600"/>
              <a:chOff x="0" y="0"/>
              <a:chExt cx="1117600" cy="1117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17600" cy="1117600"/>
              </a:xfrm>
              <a:custGeom>
                <a:avLst/>
                <a:gdLst/>
                <a:ahLst/>
                <a:cxnLst/>
                <a:rect l="l" t="t" r="r" b="b"/>
                <a:pathLst>
                  <a:path w="1117600" h="1117600">
                    <a:moveTo>
                      <a:pt x="558800" y="0"/>
                    </a:moveTo>
                    <a:cubicBezTo>
                      <a:pt x="867417" y="0"/>
                      <a:pt x="1117600" y="250183"/>
                      <a:pt x="1117600" y="558800"/>
                    </a:cubicBezTo>
                    <a:cubicBezTo>
                      <a:pt x="1117600" y="867417"/>
                      <a:pt x="867417" y="1117600"/>
                      <a:pt x="558800" y="1117600"/>
                    </a:cubicBezTo>
                    <a:cubicBezTo>
                      <a:pt x="250183" y="1117600"/>
                      <a:pt x="0" y="867417"/>
                      <a:pt x="0" y="558800"/>
                    </a:cubicBezTo>
                    <a:cubicBezTo>
                      <a:pt x="0" y="250183"/>
                      <a:pt x="250183" y="0"/>
                      <a:pt x="558800" y="0"/>
                    </a:cubicBezTo>
                    <a:close/>
                  </a:path>
                </a:pathLst>
              </a:custGeom>
              <a:solidFill>
                <a:srgbClr val="2F7D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117600" cy="1155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sz="2800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27000" y="212725"/>
              <a:ext cx="889000" cy="729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2800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05000" y="-39828"/>
              <a:ext cx="4445000" cy="541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800" b="1" dirty="0">
                  <a:solidFill>
                    <a:srgbClr val="0D2438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Read options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05000" y="685800"/>
              <a:ext cx="16002000" cy="4770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800" dirty="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Set display mode, interval, and one-shot behavior.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04975" y="3124200"/>
            <a:ext cx="0" cy="447675"/>
          </a:xfrm>
          <a:prstGeom prst="line">
            <a:avLst/>
          </a:prstGeom>
          <a:ln w="19050" cap="flat">
            <a:solidFill>
              <a:srgbClr val="C9D4C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285875" y="3644031"/>
            <a:ext cx="13430250" cy="876183"/>
            <a:chOff x="0" y="-5392"/>
            <a:chExt cx="17907000" cy="1168245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117600" cy="1117600"/>
              <a:chOff x="0" y="0"/>
              <a:chExt cx="1117600" cy="11176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117600" cy="1117600"/>
              </a:xfrm>
              <a:custGeom>
                <a:avLst/>
                <a:gdLst/>
                <a:ahLst/>
                <a:cxnLst/>
                <a:rect l="l" t="t" r="r" b="b"/>
                <a:pathLst>
                  <a:path w="1117600" h="1117600">
                    <a:moveTo>
                      <a:pt x="558800" y="0"/>
                    </a:moveTo>
                    <a:cubicBezTo>
                      <a:pt x="867417" y="0"/>
                      <a:pt x="1117600" y="250183"/>
                      <a:pt x="1117600" y="558800"/>
                    </a:cubicBezTo>
                    <a:cubicBezTo>
                      <a:pt x="1117600" y="867417"/>
                      <a:pt x="867417" y="1117600"/>
                      <a:pt x="558800" y="1117600"/>
                    </a:cubicBezTo>
                    <a:cubicBezTo>
                      <a:pt x="250183" y="1117600"/>
                      <a:pt x="0" y="867417"/>
                      <a:pt x="0" y="558800"/>
                    </a:cubicBezTo>
                    <a:cubicBezTo>
                      <a:pt x="0" y="250183"/>
                      <a:pt x="250183" y="0"/>
                      <a:pt x="558800" y="0"/>
                    </a:cubicBezTo>
                    <a:close/>
                  </a:path>
                </a:pathLst>
              </a:custGeom>
              <a:solidFill>
                <a:srgbClr val="2F7D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117600" cy="1155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sz="2800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27000" y="212725"/>
              <a:ext cx="889000" cy="729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2800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000" y="-5392"/>
              <a:ext cx="4445000" cy="541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800" b="1" dirty="0">
                  <a:solidFill>
                    <a:srgbClr val="0D2438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Install handlers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000" y="685800"/>
              <a:ext cx="16002000" cy="4770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800" dirty="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Register SIGINT and SIGTERM; keep handlers minimal.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704975" y="4505325"/>
            <a:ext cx="0" cy="447675"/>
          </a:xfrm>
          <a:prstGeom prst="line">
            <a:avLst/>
          </a:prstGeom>
          <a:ln w="19050" cap="flat">
            <a:solidFill>
              <a:srgbClr val="C9D4C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285875" y="5027368"/>
            <a:ext cx="13430250" cy="873972"/>
            <a:chOff x="0" y="-2443"/>
            <a:chExt cx="17907000" cy="1165297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117600" cy="1117600"/>
              <a:chOff x="0" y="0"/>
              <a:chExt cx="1117600" cy="1117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17600" cy="1117600"/>
              </a:xfrm>
              <a:custGeom>
                <a:avLst/>
                <a:gdLst/>
                <a:ahLst/>
                <a:cxnLst/>
                <a:rect l="l" t="t" r="r" b="b"/>
                <a:pathLst>
                  <a:path w="1117600" h="1117600">
                    <a:moveTo>
                      <a:pt x="558800" y="0"/>
                    </a:moveTo>
                    <a:cubicBezTo>
                      <a:pt x="867417" y="0"/>
                      <a:pt x="1117600" y="250183"/>
                      <a:pt x="1117600" y="558800"/>
                    </a:cubicBezTo>
                    <a:cubicBezTo>
                      <a:pt x="1117600" y="867417"/>
                      <a:pt x="867417" y="1117600"/>
                      <a:pt x="558800" y="1117600"/>
                    </a:cubicBezTo>
                    <a:cubicBezTo>
                      <a:pt x="250183" y="1117600"/>
                      <a:pt x="0" y="867417"/>
                      <a:pt x="0" y="558800"/>
                    </a:cubicBezTo>
                    <a:cubicBezTo>
                      <a:pt x="0" y="250183"/>
                      <a:pt x="250183" y="0"/>
                      <a:pt x="558800" y="0"/>
                    </a:cubicBezTo>
                    <a:close/>
                  </a:path>
                </a:pathLst>
              </a:custGeom>
              <a:solidFill>
                <a:srgbClr val="2F7D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117600" cy="1155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sz="2800"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27000" y="212725"/>
              <a:ext cx="889000" cy="729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2800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05000" y="-2443"/>
              <a:ext cx="4445000" cy="541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800" b="1" dirty="0">
                  <a:solidFill>
                    <a:srgbClr val="0D2438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Scan /proc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05000" y="685800"/>
              <a:ext cx="16002000" cy="477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80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Visit numeric entries and ignore transient read failures.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>
            <a:off x="1704975" y="5886450"/>
            <a:ext cx="0" cy="447675"/>
          </a:xfrm>
          <a:prstGeom prst="line">
            <a:avLst/>
          </a:prstGeom>
          <a:ln w="19050" cap="flat">
            <a:solidFill>
              <a:srgbClr val="C9D4C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1285875" y="6410325"/>
            <a:ext cx="13430250" cy="872140"/>
            <a:chOff x="0" y="0"/>
            <a:chExt cx="17907000" cy="1162854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1117600" cy="1117600"/>
              <a:chOff x="0" y="0"/>
              <a:chExt cx="1117600" cy="1117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17600" cy="1117600"/>
              </a:xfrm>
              <a:custGeom>
                <a:avLst/>
                <a:gdLst/>
                <a:ahLst/>
                <a:cxnLst/>
                <a:rect l="l" t="t" r="r" b="b"/>
                <a:pathLst>
                  <a:path w="1117600" h="1117600">
                    <a:moveTo>
                      <a:pt x="558800" y="0"/>
                    </a:moveTo>
                    <a:cubicBezTo>
                      <a:pt x="867417" y="0"/>
                      <a:pt x="1117600" y="250183"/>
                      <a:pt x="1117600" y="558800"/>
                    </a:cubicBezTo>
                    <a:cubicBezTo>
                      <a:pt x="1117600" y="867417"/>
                      <a:pt x="867417" y="1117600"/>
                      <a:pt x="558800" y="1117600"/>
                    </a:cubicBezTo>
                    <a:cubicBezTo>
                      <a:pt x="250183" y="1117600"/>
                      <a:pt x="0" y="867417"/>
                      <a:pt x="0" y="558800"/>
                    </a:cubicBezTo>
                    <a:cubicBezTo>
                      <a:pt x="0" y="250183"/>
                      <a:pt x="250183" y="0"/>
                      <a:pt x="558800" y="0"/>
                    </a:cubicBezTo>
                    <a:close/>
                  </a:path>
                </a:pathLst>
              </a:custGeom>
              <a:solidFill>
                <a:srgbClr val="2F7D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117600" cy="1155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sz="2800"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27000" y="212725"/>
              <a:ext cx="889000" cy="729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2800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05000" y="114300"/>
              <a:ext cx="4445000" cy="541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800" b="1">
                  <a:solidFill>
                    <a:srgbClr val="0D2438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Build + render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05000" y="685800"/>
              <a:ext cx="16002000" cy="477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80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Sort records, link children, clear terminal, print tree.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>
            <a:off x="1704975" y="7267575"/>
            <a:ext cx="0" cy="447675"/>
          </a:xfrm>
          <a:prstGeom prst="line">
            <a:avLst/>
          </a:prstGeom>
          <a:ln w="19050" cap="flat">
            <a:solidFill>
              <a:srgbClr val="C9D4C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8" name="Group 38"/>
          <p:cNvGrpSpPr/>
          <p:nvPr/>
        </p:nvGrpSpPr>
        <p:grpSpPr>
          <a:xfrm>
            <a:off x="1285875" y="7791450"/>
            <a:ext cx="13430250" cy="872140"/>
            <a:chOff x="0" y="0"/>
            <a:chExt cx="17907000" cy="1162854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1117600" cy="1117600"/>
              <a:chOff x="0" y="0"/>
              <a:chExt cx="1117600" cy="11176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117600" cy="1117600"/>
              </a:xfrm>
              <a:custGeom>
                <a:avLst/>
                <a:gdLst/>
                <a:ahLst/>
                <a:cxnLst/>
                <a:rect l="l" t="t" r="r" b="b"/>
                <a:pathLst>
                  <a:path w="1117600" h="1117600">
                    <a:moveTo>
                      <a:pt x="558800" y="0"/>
                    </a:moveTo>
                    <a:cubicBezTo>
                      <a:pt x="867417" y="0"/>
                      <a:pt x="1117600" y="250183"/>
                      <a:pt x="1117600" y="558800"/>
                    </a:cubicBezTo>
                    <a:cubicBezTo>
                      <a:pt x="1117600" y="867417"/>
                      <a:pt x="867417" y="1117600"/>
                      <a:pt x="558800" y="1117600"/>
                    </a:cubicBezTo>
                    <a:cubicBezTo>
                      <a:pt x="250183" y="1117600"/>
                      <a:pt x="0" y="867417"/>
                      <a:pt x="0" y="558800"/>
                    </a:cubicBezTo>
                    <a:cubicBezTo>
                      <a:pt x="0" y="250183"/>
                      <a:pt x="250183" y="0"/>
                      <a:pt x="558800" y="0"/>
                    </a:cubicBezTo>
                    <a:close/>
                  </a:path>
                </a:pathLst>
              </a:custGeom>
              <a:solidFill>
                <a:srgbClr val="2F7D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1117600" cy="1155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sz="2800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127000" y="212725"/>
              <a:ext cx="889000" cy="729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2800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905000" y="114300"/>
              <a:ext cx="4445000" cy="541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800" b="1">
                  <a:solidFill>
                    <a:srgbClr val="0D2438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Wait or exit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905000" y="685800"/>
              <a:ext cx="16002000" cy="477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80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Sleep for the refresh interval, or stop after --once / signal.</a:t>
              </a:r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2A2F00C4-CB60-58AB-95F1-104D0785C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82" y="91672"/>
            <a:ext cx="2476036" cy="12581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14375"/>
            <a:ext cx="15716250" cy="63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1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Process Information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6192500" cy="19050"/>
            <a:chOff x="0" y="0"/>
            <a:chExt cx="21590000" cy="25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4C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750" y="1693545"/>
            <a:ext cx="11430000" cy="367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Example record assembled from /proc/&lt;</a:t>
            </a:r>
            <a:r>
              <a:rPr lang="en-US" sz="2800" dirty="0" err="1">
                <a:latin typeface="Source Sans 3"/>
                <a:ea typeface="Source Sans 3"/>
                <a:cs typeface="Source Sans 3"/>
                <a:sym typeface="Source Sans 3"/>
              </a:rPr>
              <a:t>pid</a:t>
            </a: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&gt;/status or stat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7750" y="2905125"/>
            <a:ext cx="2952750" cy="3429000"/>
            <a:chOff x="0" y="0"/>
            <a:chExt cx="3937000" cy="4572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937000" cy="4572000"/>
              <a:chOff x="0" y="0"/>
              <a:chExt cx="3937000" cy="4572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937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4572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3937000" cy="461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sz="2800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55600" y="342900"/>
              <a:ext cx="3429000" cy="464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800" b="1">
                  <a:solidFill>
                    <a:srgbClr val="2F7D5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PID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5600" y="1066800"/>
              <a:ext cx="3429000" cy="858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2800" b="1">
                  <a:solidFill>
                    <a:srgbClr val="0D243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1642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5600" y="2447925"/>
              <a:ext cx="3429000" cy="891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80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Unique process identifier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324350" y="2905125"/>
            <a:ext cx="2952750" cy="3429000"/>
            <a:chOff x="0" y="0"/>
            <a:chExt cx="3937000" cy="4572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3937000" cy="4572000"/>
              <a:chOff x="0" y="0"/>
              <a:chExt cx="3937000" cy="4572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937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4572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3937000" cy="461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sz="2800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55600" y="342900"/>
              <a:ext cx="3429000" cy="464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800" b="1">
                  <a:solidFill>
                    <a:srgbClr val="2F7D5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PPID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5600" y="1066800"/>
              <a:ext cx="3429000" cy="858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2800" b="1">
                  <a:solidFill>
                    <a:srgbClr val="0D243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731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5600" y="2447925"/>
              <a:ext cx="3429000" cy="891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80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Identifier of the parent process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00950" y="2905125"/>
            <a:ext cx="2952750" cy="3429000"/>
            <a:chOff x="0" y="0"/>
            <a:chExt cx="3937000" cy="45720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3937000" cy="4572000"/>
              <a:chOff x="0" y="0"/>
              <a:chExt cx="3937000" cy="4572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3937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4572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3937000" cy="461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sz="2800"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355600" y="342900"/>
              <a:ext cx="3429000" cy="464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800" b="1">
                  <a:solidFill>
                    <a:srgbClr val="2F7D5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NAME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5600" y="1066800"/>
              <a:ext cx="3429000" cy="858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2800" b="1">
                  <a:solidFill>
                    <a:srgbClr val="0D243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bash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5600" y="2447925"/>
              <a:ext cx="3429000" cy="13191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80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Readable command / process name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877550" y="2905125"/>
            <a:ext cx="2952750" cy="3429000"/>
            <a:chOff x="0" y="0"/>
            <a:chExt cx="3937000" cy="45720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3937000" cy="4572000"/>
              <a:chOff x="0" y="0"/>
              <a:chExt cx="3937000" cy="4572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3937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4572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DCEBE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3937000" cy="461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sz="2800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55600" y="342900"/>
              <a:ext cx="3429000" cy="464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800" b="1">
                  <a:solidFill>
                    <a:srgbClr val="2F7D5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STATE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5600" y="1066800"/>
              <a:ext cx="3429000" cy="858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2800" b="1">
                  <a:solidFill>
                    <a:srgbClr val="0D243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5600" y="2447925"/>
              <a:ext cx="3429000" cy="891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80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Kernel state code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154150" y="2905125"/>
            <a:ext cx="2952750" cy="3429000"/>
            <a:chOff x="0" y="0"/>
            <a:chExt cx="3937000" cy="4572000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3937000" cy="4572000"/>
              <a:chOff x="0" y="0"/>
              <a:chExt cx="3937000" cy="4572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3937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4572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3937000" cy="461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sz="2800"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355600" y="342900"/>
              <a:ext cx="3429000" cy="464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800" b="1">
                  <a:solidFill>
                    <a:srgbClr val="2F7D5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DEPTH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5600" y="1066800"/>
              <a:ext cx="3429000" cy="858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2800" b="1">
                  <a:solidFill>
                    <a:srgbClr val="0D243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5600" y="2447925"/>
              <a:ext cx="3429000" cy="891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80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Derived indentation level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47750" y="6905625"/>
            <a:ext cx="16192500" cy="1143000"/>
            <a:chOff x="0" y="0"/>
            <a:chExt cx="21590000" cy="1524000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0"/>
              <a:ext cx="21590000" cy="1524000"/>
              <a:chOff x="0" y="0"/>
              <a:chExt cx="21590000" cy="15240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21590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21590000" h="1524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DCEBE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-38100"/>
                <a:ext cx="21590000" cy="156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sz="2800"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508000" y="415925"/>
              <a:ext cx="20066000" cy="515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800">
                  <a:solidFill>
                    <a:srgbClr val="18304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State indicators:  R running   •   S sleeping   •   D uninterruptible wait   •   T stopped   •   Z zombie</a:t>
              </a:r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92855574-1204-08EE-EAE1-E7FAD65A9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82" y="91672"/>
            <a:ext cx="2476036" cy="12581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14375"/>
            <a:ext cx="15716250" cy="63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1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Core Implementation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6192500" cy="19050"/>
            <a:chOff x="0" y="0"/>
            <a:chExt cx="21590000" cy="25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4C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43000" y="2305050"/>
            <a:ext cx="7524750" cy="64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Filter directory names to digits only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Open process files defensively; entries may disappear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Parse fixed fields with bounded buffers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Sort by PID for deterministic output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Use a signal-safe flag; clean up in normal control flow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Accept only numeric directory names under /proc as process IDs.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Open process files defensively because a process may exit during scanning.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Parse PID, PPID, name, and state using bounded buffers and checked reads.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Store records, then sort by PID to make output order predictable.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620250" y="1924050"/>
            <a:ext cx="7239000" cy="6696075"/>
            <a:chOff x="0" y="-38100"/>
            <a:chExt cx="9652000" cy="89281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-38100"/>
              <a:ext cx="9652000" cy="8928100"/>
              <a:chOff x="0" y="-38100"/>
              <a:chExt cx="9652000" cy="89281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9652000" cy="74041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8890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12212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9652000" cy="892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635000" y="469900"/>
              <a:ext cx="8255000" cy="64017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volatile </a:t>
              </a:r>
              <a:r>
                <a:rPr lang="en-US" sz="2400" dirty="0" err="1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sig_atomic_t</a:t>
              </a:r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stop = 0;</a:t>
              </a:r>
            </a:p>
            <a:p>
              <a:pPr algn="l"/>
              <a:endParaRPr lang="en-US" sz="2400" dirty="0">
                <a:solidFill>
                  <a:srgbClr val="E8F4E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l"/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static void </a:t>
              </a:r>
              <a:r>
                <a:rPr lang="en-US" sz="2400" dirty="0" err="1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on_signal</a:t>
              </a:r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(int sig) {</a:t>
              </a:r>
            </a:p>
            <a:p>
              <a:pPr algn="l"/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(void)sig;</a:t>
              </a:r>
            </a:p>
            <a:p>
              <a:pPr algn="l"/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stop = 1;</a:t>
              </a:r>
            </a:p>
            <a:p>
              <a:pPr algn="l"/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}</a:t>
              </a:r>
            </a:p>
            <a:p>
              <a:pPr algn="l"/>
              <a:endParaRPr lang="en-US" sz="2400" dirty="0">
                <a:solidFill>
                  <a:srgbClr val="E8F4E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l"/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while (!stop) {</a:t>
              </a:r>
            </a:p>
            <a:p>
              <a:pPr algn="l"/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</a:t>
              </a:r>
              <a:r>
                <a:rPr lang="en-US" sz="2400" dirty="0" err="1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scan_proc</a:t>
              </a:r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(&amp;records);</a:t>
              </a:r>
            </a:p>
            <a:p>
              <a:pPr algn="l"/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</a:t>
              </a:r>
              <a:r>
                <a:rPr lang="en-US" sz="2400" dirty="0" err="1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render_tree</a:t>
              </a:r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(&amp;records);</a:t>
              </a:r>
            </a:p>
            <a:p>
              <a:pPr algn="l"/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if (once) break;</a:t>
              </a:r>
            </a:p>
            <a:p>
              <a:pPr algn="l"/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sleep(interval);</a:t>
              </a:r>
            </a:p>
            <a:p>
              <a:pPr algn="l"/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}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5E7FADD-024C-E730-ADEB-B925FFE64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82" y="91672"/>
            <a:ext cx="2476036" cy="12581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14375"/>
            <a:ext cx="15716250" cy="63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1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 Structures and Tree Rendering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6192500" cy="19050"/>
            <a:chOff x="0" y="0"/>
            <a:chExt cx="21590000" cy="25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4C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1922183"/>
            <a:ext cx="6191250" cy="4250017"/>
            <a:chOff x="0" y="-38100"/>
            <a:chExt cx="8255000" cy="54991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-38100"/>
              <a:ext cx="8255000" cy="5499100"/>
              <a:chOff x="0" y="-38100"/>
              <a:chExt cx="8255000" cy="54991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255000" cy="4129964"/>
              </a:xfrm>
              <a:custGeom>
                <a:avLst/>
                <a:gdLst/>
                <a:ahLst/>
                <a:cxnLst/>
                <a:rect l="l" t="t" r="r" b="b"/>
                <a:pathLst>
                  <a:path w="8255000" h="5461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2212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82550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81000" y="396875"/>
              <a:ext cx="5080000" cy="563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1" dirty="0">
                  <a:solidFill>
                    <a:schemeClr val="bg1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Process record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1000" y="985470"/>
              <a:ext cx="5080000" cy="246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 dirty="0" err="1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pid_t</a:t>
              </a:r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</a:t>
              </a:r>
              <a:r>
                <a:rPr lang="en-US" sz="2400" dirty="0" err="1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pid</a:t>
              </a:r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;</a:t>
              </a:r>
            </a:p>
            <a:p>
              <a:pPr algn="l"/>
              <a:r>
                <a:rPr lang="en-US" sz="2400" dirty="0" err="1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pid_t</a:t>
              </a:r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</a:t>
              </a:r>
              <a:r>
                <a:rPr lang="en-US" sz="2400" dirty="0" err="1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ppid</a:t>
              </a:r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;</a:t>
              </a:r>
            </a:p>
            <a:p>
              <a:pPr algn="l"/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char name[256];</a:t>
              </a:r>
            </a:p>
            <a:p>
              <a:pPr algn="l"/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char state;</a:t>
              </a:r>
            </a:p>
            <a:p>
              <a:pPr algn="l"/>
              <a:r>
                <a:rPr lang="en-US" sz="24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int depth;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47750" y="5414943"/>
            <a:ext cx="3810000" cy="40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800" b="1" dirty="0">
                <a:solidFill>
                  <a:srgbClr val="2F7D5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Rendering logic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8200" y="5987231"/>
            <a:ext cx="9591300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Find records whose PPID matches the current PID, print branch glyphs, then recurse with increased depth.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A process record stores PID, PPID, name, state, and derived depth.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PID sorting provides deterministic ordering, but the hierarchy comes from PID/PPID matching.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 Recursive rendering prints each child beneath its parent and increases indentation for deeper levels.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468350" y="2286000"/>
            <a:ext cx="2476500" cy="762000"/>
            <a:chOff x="0" y="0"/>
            <a:chExt cx="3302000" cy="1016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302000" cy="1016000"/>
            </a:xfrm>
            <a:custGeom>
              <a:avLst/>
              <a:gdLst/>
              <a:ahLst/>
              <a:cxnLst/>
              <a:rect l="l" t="t" r="r" b="b"/>
              <a:pathLst>
                <a:path w="3302000" h="1016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928077"/>
                  </a:lnTo>
                  <a:cubicBezTo>
                    <a:pt x="3302000" y="951396"/>
                    <a:pt x="3292737" y="973759"/>
                    <a:pt x="3276248" y="990248"/>
                  </a:cubicBezTo>
                  <a:cubicBezTo>
                    <a:pt x="3259759" y="1006737"/>
                    <a:pt x="3237396" y="1016000"/>
                    <a:pt x="3214077" y="1016000"/>
                  </a:cubicBezTo>
                  <a:lnTo>
                    <a:pt x="87923" y="1016000"/>
                  </a:lnTo>
                  <a:cubicBezTo>
                    <a:pt x="64604" y="1016000"/>
                    <a:pt x="42241" y="1006737"/>
                    <a:pt x="25752" y="990248"/>
                  </a:cubicBezTo>
                  <a:cubicBezTo>
                    <a:pt x="9263" y="973759"/>
                    <a:pt x="0" y="951396"/>
                    <a:pt x="0" y="928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DCEBE3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3302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2800" b="1">
                  <a:solidFill>
                    <a:srgbClr val="0D2438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init (1)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944350" y="3905250"/>
            <a:ext cx="2381250" cy="762000"/>
            <a:chOff x="0" y="0"/>
            <a:chExt cx="3175000" cy="1016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75000" cy="1016000"/>
            </a:xfrm>
            <a:custGeom>
              <a:avLst/>
              <a:gdLst/>
              <a:ahLst/>
              <a:cxnLst/>
              <a:rect l="l" t="t" r="r" b="b"/>
              <a:pathLst>
                <a:path w="3175000" h="1016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924560"/>
                  </a:lnTo>
                  <a:cubicBezTo>
                    <a:pt x="3175000" y="975061"/>
                    <a:pt x="3134061" y="1016000"/>
                    <a:pt x="3083560" y="1016000"/>
                  </a:cubicBezTo>
                  <a:lnTo>
                    <a:pt x="91440" y="1016000"/>
                  </a:lnTo>
                  <a:cubicBezTo>
                    <a:pt x="40939" y="1016000"/>
                    <a:pt x="0" y="975061"/>
                    <a:pt x="0" y="924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3175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2800" b="1">
                  <a:solidFill>
                    <a:srgbClr val="0D2438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sshd (731)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373350" y="3905250"/>
            <a:ext cx="2381250" cy="762000"/>
            <a:chOff x="0" y="0"/>
            <a:chExt cx="3175000" cy="1016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75000" cy="1016000"/>
            </a:xfrm>
            <a:custGeom>
              <a:avLst/>
              <a:gdLst/>
              <a:ahLst/>
              <a:cxnLst/>
              <a:rect l="l" t="t" r="r" b="b"/>
              <a:pathLst>
                <a:path w="3175000" h="1016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924560"/>
                  </a:lnTo>
                  <a:cubicBezTo>
                    <a:pt x="3175000" y="975061"/>
                    <a:pt x="3134061" y="1016000"/>
                    <a:pt x="3083560" y="1016000"/>
                  </a:cubicBezTo>
                  <a:lnTo>
                    <a:pt x="91440" y="1016000"/>
                  </a:lnTo>
                  <a:cubicBezTo>
                    <a:pt x="40939" y="1016000"/>
                    <a:pt x="0" y="975061"/>
                    <a:pt x="0" y="924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3175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2800" b="1">
                  <a:solidFill>
                    <a:srgbClr val="0D2438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logger (412)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944350" y="5619750"/>
            <a:ext cx="2381250" cy="762000"/>
            <a:chOff x="0" y="0"/>
            <a:chExt cx="3175000" cy="1016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75000" cy="1016000"/>
            </a:xfrm>
            <a:custGeom>
              <a:avLst/>
              <a:gdLst/>
              <a:ahLst/>
              <a:cxnLst/>
              <a:rect l="l" t="t" r="r" b="b"/>
              <a:pathLst>
                <a:path w="3175000" h="1016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924560"/>
                  </a:lnTo>
                  <a:cubicBezTo>
                    <a:pt x="3175000" y="975061"/>
                    <a:pt x="3134061" y="1016000"/>
                    <a:pt x="3083560" y="1016000"/>
                  </a:cubicBezTo>
                  <a:lnTo>
                    <a:pt x="91440" y="1016000"/>
                  </a:lnTo>
                  <a:cubicBezTo>
                    <a:pt x="40939" y="1016000"/>
                    <a:pt x="0" y="975061"/>
                    <a:pt x="0" y="924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3175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2800" b="1">
                  <a:solidFill>
                    <a:srgbClr val="0D2438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bash (1642)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944350" y="7334250"/>
            <a:ext cx="2381250" cy="762000"/>
            <a:chOff x="0" y="0"/>
            <a:chExt cx="3175000" cy="1016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75000" cy="1016000"/>
            </a:xfrm>
            <a:custGeom>
              <a:avLst/>
              <a:gdLst/>
              <a:ahLst/>
              <a:cxnLst/>
              <a:rect l="l" t="t" r="r" b="b"/>
              <a:pathLst>
                <a:path w="3175000" h="1016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924560"/>
                  </a:lnTo>
                  <a:cubicBezTo>
                    <a:pt x="3175000" y="975061"/>
                    <a:pt x="3134061" y="1016000"/>
                    <a:pt x="3083560" y="1016000"/>
                  </a:cubicBezTo>
                  <a:lnTo>
                    <a:pt x="91440" y="1016000"/>
                  </a:lnTo>
                  <a:cubicBezTo>
                    <a:pt x="40939" y="1016000"/>
                    <a:pt x="0" y="975061"/>
                    <a:pt x="0" y="924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3175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2800" b="1">
                  <a:solidFill>
                    <a:srgbClr val="0D2438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ptree (1740)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 flipH="1">
            <a:off x="13134975" y="3048000"/>
            <a:ext cx="1571625" cy="857250"/>
          </a:xfrm>
          <a:prstGeom prst="line">
            <a:avLst/>
          </a:prstGeom>
          <a:ln w="28575" cap="rnd">
            <a:solidFill>
              <a:srgbClr val="2F7D5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0" name="AutoShape 30"/>
          <p:cNvSpPr/>
          <p:nvPr/>
        </p:nvSpPr>
        <p:spPr>
          <a:xfrm>
            <a:off x="14706600" y="3048000"/>
            <a:ext cx="1857375" cy="857250"/>
          </a:xfrm>
          <a:prstGeom prst="line">
            <a:avLst/>
          </a:prstGeom>
          <a:ln w="28575" cap="rnd">
            <a:solidFill>
              <a:srgbClr val="2F7D5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1" name="AutoShape 31"/>
          <p:cNvSpPr/>
          <p:nvPr/>
        </p:nvSpPr>
        <p:spPr>
          <a:xfrm>
            <a:off x="13134975" y="4667250"/>
            <a:ext cx="0" cy="952500"/>
          </a:xfrm>
          <a:prstGeom prst="line">
            <a:avLst/>
          </a:prstGeom>
          <a:ln w="28575" cap="rnd">
            <a:solidFill>
              <a:srgbClr val="2F7D5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2" name="AutoShape 32"/>
          <p:cNvSpPr/>
          <p:nvPr/>
        </p:nvSpPr>
        <p:spPr>
          <a:xfrm>
            <a:off x="13134975" y="6381750"/>
            <a:ext cx="0" cy="952500"/>
          </a:xfrm>
          <a:prstGeom prst="line">
            <a:avLst/>
          </a:prstGeom>
          <a:ln w="28575" cap="rnd">
            <a:solidFill>
              <a:srgbClr val="2F7D5B"/>
            </a:solidFill>
            <a:prstDash val="solid"/>
            <a:headEnd type="none" w="sm" len="sm"/>
            <a:tailEnd type="arrow" w="med" len="sm"/>
          </a:ln>
        </p:spPr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29866E5-2846-71A3-BD60-41EF52EE7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82" y="91672"/>
            <a:ext cx="2476036" cy="12581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14375"/>
            <a:ext cx="15716250" cy="63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1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Command-Line Usage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6192500" cy="19050"/>
            <a:chOff x="0" y="0"/>
            <a:chExt cx="21590000" cy="25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4C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1952625"/>
            <a:ext cx="7429500" cy="4953000"/>
            <a:chOff x="0" y="0"/>
            <a:chExt cx="9906000" cy="6604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906000" cy="6604000"/>
              <a:chOff x="0" y="0"/>
              <a:chExt cx="9906000" cy="6604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99060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6604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12212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99060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635000" y="469900"/>
              <a:ext cx="8890000" cy="32829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$ ./</a:t>
              </a:r>
              <a:r>
                <a:rPr lang="en-US" sz="3200" dirty="0" err="1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ptree</a:t>
              </a:r>
              <a:endParaRPr lang="en-US" sz="3200" dirty="0">
                <a:solidFill>
                  <a:srgbClr val="E8F4ED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l"/>
              <a:r>
                <a:rPr lang="en-US" sz="32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$ ./</a:t>
              </a:r>
              <a:r>
                <a:rPr lang="en-US" sz="3200" dirty="0" err="1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ptree</a:t>
              </a:r>
              <a:r>
                <a:rPr lang="en-US" sz="32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--all</a:t>
              </a:r>
            </a:p>
            <a:p>
              <a:pPr algn="l"/>
              <a:r>
                <a:rPr lang="en-US" sz="32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$ ./</a:t>
              </a:r>
              <a:r>
                <a:rPr lang="en-US" sz="3200" dirty="0" err="1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ptree</a:t>
              </a:r>
              <a:r>
                <a:rPr lang="en-US" sz="32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--once</a:t>
              </a:r>
            </a:p>
            <a:p>
              <a:pPr algn="l"/>
              <a:r>
                <a:rPr lang="en-US" sz="32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$ ./</a:t>
              </a:r>
              <a:r>
                <a:rPr lang="en-US" sz="3200" dirty="0" err="1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ptree</a:t>
              </a:r>
              <a:r>
                <a:rPr lang="en-US" sz="32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--interval 2</a:t>
              </a:r>
            </a:p>
            <a:p>
              <a:pPr algn="l"/>
              <a:r>
                <a:rPr lang="en-US" sz="32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$ ./</a:t>
              </a:r>
              <a:r>
                <a:rPr lang="en-US" sz="3200" dirty="0" err="1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ptree</a:t>
              </a:r>
              <a:r>
                <a:rPr lang="en-US" sz="3200" dirty="0">
                  <a:solidFill>
                    <a:srgbClr val="E8F4E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--help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620250" y="2295525"/>
            <a:ext cx="6191250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Source Sans 3"/>
                <a:ea typeface="Source Sans 3"/>
                <a:cs typeface="Source Sans 3"/>
                <a:sym typeface="Source Sans 3"/>
              </a:rPr>
              <a:t>Live view with default filtering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Source Sans 3"/>
                <a:ea typeface="Source Sans 3"/>
                <a:cs typeface="Source Sans 3"/>
                <a:sym typeface="Source Sans 3"/>
              </a:rPr>
              <a:t>Include all visible processes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Source Sans 3"/>
                <a:ea typeface="Source Sans 3"/>
                <a:cs typeface="Source Sans 3"/>
                <a:sym typeface="Source Sans 3"/>
              </a:rPr>
              <a:t>Scan and render once, then exit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Source Sans 3"/>
                <a:ea typeface="Source Sans 3"/>
                <a:cs typeface="Source Sans 3"/>
                <a:sym typeface="Source Sans 3"/>
              </a:rPr>
              <a:t>Refresh every 2 seconds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Source Sans 3"/>
                <a:ea typeface="Source Sans 3"/>
                <a:cs typeface="Source Sans 3"/>
                <a:sym typeface="Source Sans 3"/>
              </a:rPr>
              <a:t>Show options and usage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47750" y="7477125"/>
            <a:ext cx="16192500" cy="952500"/>
            <a:chOff x="0" y="0"/>
            <a:chExt cx="21590000" cy="1270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1590000" cy="1270000"/>
              <a:chOff x="0" y="0"/>
              <a:chExt cx="21590000" cy="127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1590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21590000" h="127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DCEBE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21590000" cy="130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635000" y="396875"/>
              <a:ext cx="19050000" cy="4787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800" dirty="0">
                  <a:solidFill>
                    <a:srgbClr val="0D243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Build example   </a:t>
              </a:r>
              <a:r>
                <a:rPr lang="en-US" sz="2800" dirty="0" err="1">
                  <a:solidFill>
                    <a:srgbClr val="0D243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gcc</a:t>
              </a:r>
              <a:r>
                <a:rPr lang="en-US" sz="2800" dirty="0">
                  <a:solidFill>
                    <a:srgbClr val="0D243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-std=c11 -Wall -</a:t>
              </a:r>
              <a:r>
                <a:rPr lang="en-US" sz="2800" dirty="0" err="1">
                  <a:solidFill>
                    <a:srgbClr val="0D243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Wextra</a:t>
              </a:r>
              <a:r>
                <a:rPr lang="en-US" sz="2800" dirty="0">
                  <a:solidFill>
                    <a:srgbClr val="0D243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-O2 -o </a:t>
              </a:r>
              <a:r>
                <a:rPr lang="en-US" sz="2800" dirty="0" err="1">
                  <a:solidFill>
                    <a:srgbClr val="0D243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ptree</a:t>
              </a:r>
              <a:r>
                <a:rPr lang="en-US" sz="2800" dirty="0">
                  <a:solidFill>
                    <a:srgbClr val="0D243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</a:t>
              </a:r>
              <a:r>
                <a:rPr lang="en-US" sz="2800" dirty="0" err="1">
                  <a:solidFill>
                    <a:srgbClr val="0D243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ptree.c</a:t>
              </a:r>
              <a:endParaRPr lang="en-US" sz="2800" dirty="0">
                <a:solidFill>
                  <a:srgbClr val="0D2438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CEE3FF47-4A8B-ECA4-5D7C-119E8522F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82" y="91672"/>
            <a:ext cx="2476036" cy="12581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14375"/>
            <a:ext cx="15716250" cy="63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1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Testing and Validation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6192500" cy="19050"/>
            <a:chOff x="0" y="0"/>
            <a:chExt cx="21590000" cy="25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4C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750" y="1638300"/>
            <a:ext cx="11430000" cy="377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800" b="1">
                <a:solidFill>
                  <a:srgbClr val="2F7D5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Planned validation — record evidence before claiming a pass.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7750" y="2322635"/>
            <a:ext cx="16192500" cy="619125"/>
            <a:chOff x="0" y="0"/>
            <a:chExt cx="21590000" cy="825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90000" cy="825500"/>
            </a:xfrm>
            <a:custGeom>
              <a:avLst/>
              <a:gdLst/>
              <a:ahLst/>
              <a:cxnLst/>
              <a:rect l="l" t="t" r="r" b="b"/>
              <a:pathLst>
                <a:path w="21590000" h="825500">
                  <a:moveTo>
                    <a:pt x="0" y="0"/>
                  </a:moveTo>
                  <a:lnTo>
                    <a:pt x="21590000" y="0"/>
                  </a:lnTo>
                  <a:lnTo>
                    <a:pt x="21590000" y="825500"/>
                  </a:lnTo>
                  <a:lnTo>
                    <a:pt x="0" y="825500"/>
                  </a:lnTo>
                  <a:close/>
                </a:path>
              </a:pathLst>
            </a:custGeom>
            <a:solidFill>
              <a:srgbClr val="0D2438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590000" cy="86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26527" y="2537996"/>
            <a:ext cx="23812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800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00500" y="2562225"/>
            <a:ext cx="33337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800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26973" y="2537996"/>
            <a:ext cx="400050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800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EXPECTED BEHAVIOUR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05946" y="2537996"/>
            <a:ext cx="42862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800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EVIDENCE TO CAPTURE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47750" y="2962275"/>
            <a:ext cx="16192500" cy="914400"/>
            <a:chOff x="0" y="0"/>
            <a:chExt cx="215900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590000" cy="1219200"/>
            </a:xfrm>
            <a:custGeom>
              <a:avLst/>
              <a:gdLst/>
              <a:ahLst/>
              <a:cxnLst/>
              <a:rect l="l" t="t" r="r" b="b"/>
              <a:pathLst>
                <a:path w="21590000" h="1219200">
                  <a:moveTo>
                    <a:pt x="0" y="0"/>
                  </a:moveTo>
                  <a:lnTo>
                    <a:pt x="21590000" y="0"/>
                  </a:lnTo>
                  <a:lnTo>
                    <a:pt x="21590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1590000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38250" y="3242846"/>
            <a:ext cx="23812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Help path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024679" y="3214271"/>
            <a:ext cx="33337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Run --help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10500" y="3219400"/>
            <a:ext cx="400050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Usage text; exit cleanly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82500" y="3214271"/>
            <a:ext cx="42862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Captured terminal text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47750" y="3924300"/>
            <a:ext cx="16192500" cy="914400"/>
            <a:chOff x="0" y="0"/>
            <a:chExt cx="2159000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590000" cy="1219200"/>
            </a:xfrm>
            <a:custGeom>
              <a:avLst/>
              <a:gdLst/>
              <a:ahLst/>
              <a:cxnLst/>
              <a:rect l="l" t="t" r="r" b="b"/>
              <a:pathLst>
                <a:path w="21590000" h="1219200">
                  <a:moveTo>
                    <a:pt x="0" y="0"/>
                  </a:moveTo>
                  <a:lnTo>
                    <a:pt x="21590000" y="0"/>
                  </a:lnTo>
                  <a:lnTo>
                    <a:pt x="21590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EF3EF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1590000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26527" y="4227564"/>
            <a:ext cx="23812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One-shot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000500" y="4200525"/>
            <a:ext cx="33337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Run --once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10500" y="4197935"/>
            <a:ext cx="400050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Single scan and render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03488" y="4212223"/>
            <a:ext cx="42862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Exit code + screenshot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047750" y="4838700"/>
            <a:ext cx="16192500" cy="914400"/>
            <a:chOff x="0" y="0"/>
            <a:chExt cx="2159000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590000" cy="1219200"/>
            </a:xfrm>
            <a:custGeom>
              <a:avLst/>
              <a:gdLst/>
              <a:ahLst/>
              <a:cxnLst/>
              <a:rect l="l" t="t" r="r" b="b"/>
              <a:pathLst>
                <a:path w="21590000" h="1219200">
                  <a:moveTo>
                    <a:pt x="0" y="0"/>
                  </a:moveTo>
                  <a:lnTo>
                    <a:pt x="21590000" y="0"/>
                  </a:lnTo>
                  <a:lnTo>
                    <a:pt x="21590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1590000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26527" y="5124494"/>
            <a:ext cx="23812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Hierarchy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000500" y="5143500"/>
            <a:ext cx="33337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Start child shell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10500" y="5151533"/>
            <a:ext cx="400050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Child shown below parent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382500" y="5124494"/>
            <a:ext cx="42862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PID/PPID cross-check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047750" y="5800725"/>
            <a:ext cx="16192500" cy="914400"/>
            <a:chOff x="0" y="0"/>
            <a:chExt cx="21590000" cy="1219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590000" cy="1219200"/>
            </a:xfrm>
            <a:custGeom>
              <a:avLst/>
              <a:gdLst/>
              <a:ahLst/>
              <a:cxnLst/>
              <a:rect l="l" t="t" r="r" b="b"/>
              <a:pathLst>
                <a:path w="21590000" h="1219200">
                  <a:moveTo>
                    <a:pt x="0" y="0"/>
                  </a:moveTo>
                  <a:lnTo>
                    <a:pt x="21590000" y="0"/>
                  </a:lnTo>
                  <a:lnTo>
                    <a:pt x="21590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EF3EF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1590000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26527" y="6131927"/>
            <a:ext cx="23812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Refresh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000500" y="6074360"/>
            <a:ext cx="33337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Create / end process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810500" y="6131927"/>
            <a:ext cx="400050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View changes next cycle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382500" y="6094377"/>
            <a:ext cx="42862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Before / after capture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047750" y="6762750"/>
            <a:ext cx="16192500" cy="914400"/>
            <a:chOff x="0" y="0"/>
            <a:chExt cx="21590000" cy="12192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590000" cy="1219200"/>
            </a:xfrm>
            <a:custGeom>
              <a:avLst/>
              <a:gdLst/>
              <a:ahLst/>
              <a:cxnLst/>
              <a:rect l="l" t="t" r="r" b="b"/>
              <a:pathLst>
                <a:path w="21590000" h="1219200">
                  <a:moveTo>
                    <a:pt x="0" y="0"/>
                  </a:moveTo>
                  <a:lnTo>
                    <a:pt x="21590000" y="0"/>
                  </a:lnTo>
                  <a:lnTo>
                    <a:pt x="21590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21590000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48082" y="7093952"/>
            <a:ext cx="23812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Signals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000500" y="6940063"/>
            <a:ext cx="3333750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Send SIGINT / SIGTERM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810500" y="7093951"/>
            <a:ext cx="400050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Loop stops cleanly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382500" y="7093951"/>
            <a:ext cx="42862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Exit observation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047750" y="7772400"/>
            <a:ext cx="16192500" cy="914400"/>
            <a:chOff x="0" y="0"/>
            <a:chExt cx="21590000" cy="12192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590000" cy="1219200"/>
            </a:xfrm>
            <a:custGeom>
              <a:avLst/>
              <a:gdLst/>
              <a:ahLst/>
              <a:cxnLst/>
              <a:rect l="l" t="t" r="r" b="b"/>
              <a:pathLst>
                <a:path w="21590000" h="1219200">
                  <a:moveTo>
                    <a:pt x="0" y="0"/>
                  </a:moveTo>
                  <a:lnTo>
                    <a:pt x="21590000" y="0"/>
                  </a:lnTo>
                  <a:lnTo>
                    <a:pt x="21590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EF3EF"/>
            </a:solidFill>
            <a:ln cap="sq">
              <a:noFill/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21590000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238250" y="8060323"/>
            <a:ext cx="23812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Permissions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000500" y="7906434"/>
            <a:ext cx="3333750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Restrict / race an entry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810500" y="8008352"/>
            <a:ext cx="400050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Skip unreadable entry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382500" y="8008352"/>
            <a:ext cx="428625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dirty="0">
                <a:solidFill>
                  <a:srgbClr val="183044"/>
                </a:solidFill>
                <a:latin typeface="Source Sans 3"/>
                <a:ea typeface="Source Sans 3"/>
                <a:cs typeface="Source Sans 3"/>
                <a:sym typeface="Source Sans 3"/>
              </a:rPr>
              <a:t>Warning / stable output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3782FDEA-39D0-6A87-691E-412EE9C6B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82" y="91672"/>
            <a:ext cx="2476036" cy="12581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14375"/>
            <a:ext cx="15716250" cy="63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1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Output and Results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6192500" cy="19050"/>
            <a:chOff x="0" y="0"/>
            <a:chExt cx="21590000" cy="25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4C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430000" y="2438401"/>
            <a:ext cx="4876800" cy="348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800" b="1" dirty="0">
                <a:solidFill>
                  <a:srgbClr val="2F7D5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WHAT SHOULD BE VISIBLE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0000" y="3067050"/>
            <a:ext cx="4095750" cy="301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• Process name and PID</a:t>
            </a:r>
          </a:p>
          <a:p>
            <a:pPr algn="l"/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• Clear branch indentation</a:t>
            </a:r>
          </a:p>
          <a:p>
            <a:pPr algn="l"/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• Parent before children</a:t>
            </a:r>
          </a:p>
          <a:p>
            <a:pPr algn="l"/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• State indicators, if enabled</a:t>
            </a:r>
          </a:p>
          <a:p>
            <a:pPr algn="l"/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• Stable refresh without scroll spam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7750" y="8683996"/>
            <a:ext cx="15240000" cy="78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800" dirty="0">
                <a:latin typeface="Source Sans 3"/>
                <a:ea typeface="Source Sans 3"/>
                <a:cs typeface="Source Sans 3"/>
                <a:sym typeface="Source Sans 3"/>
              </a:rPr>
              <a:t>Result reporting remains evidence-based: add the actual screenshot and observed behavior after running on Linux.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264D1BE-2CBD-7902-D293-78461403D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82" y="91672"/>
            <a:ext cx="2476036" cy="12581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6F11308-889F-872C-BB10-E7E426037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62856"/>
            <a:ext cx="8382000" cy="70871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14375"/>
            <a:ext cx="15716250" cy="63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1">
                <a:solidFill>
                  <a:srgbClr val="0D243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Limitations, Impact, and Future Scope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6192500" cy="19050"/>
            <a:chOff x="0" y="0"/>
            <a:chExt cx="21590000" cy="25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9D4C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9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2000250"/>
            <a:ext cx="7524750" cy="5238750"/>
            <a:chOff x="0" y="0"/>
            <a:chExt cx="10033000" cy="6985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0033000" cy="6985000"/>
              <a:chOff x="0" y="0"/>
              <a:chExt cx="10033000" cy="6985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033000" cy="69850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6985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6985000"/>
                    </a:lnTo>
                    <a:lnTo>
                      <a:pt x="0" y="698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0033000" cy="702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635000" y="406400"/>
              <a:ext cx="8255000" cy="515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800" b="1" dirty="0">
                  <a:solidFill>
                    <a:srgbClr val="2F7D5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CURRENT LIMITATIONS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000" y="1368425"/>
              <a:ext cx="8255000" cy="3447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00" dirty="0">
                  <a:latin typeface="Source Sans 3"/>
                  <a:ea typeface="Source Sans 3"/>
                  <a:cs typeface="Source Sans 3"/>
                  <a:sym typeface="Source Sans 3"/>
                </a:rPr>
                <a:t>• Linux-specific /proc dependency</a:t>
              </a:r>
            </a:p>
            <a:p>
              <a:pPr algn="l"/>
              <a:r>
                <a:rPr lang="en-US" sz="2800" dirty="0">
                  <a:latin typeface="Source Sans 3"/>
                  <a:ea typeface="Source Sans 3"/>
                  <a:cs typeface="Source Sans 3"/>
                  <a:sym typeface="Source Sans 3"/>
                </a:rPr>
                <a:t>• Snapshot races as processes start or exit</a:t>
              </a:r>
            </a:p>
            <a:p>
              <a:pPr algn="l"/>
              <a:r>
                <a:rPr lang="en-US" sz="2800" dirty="0">
                  <a:latin typeface="Source Sans 3"/>
                  <a:ea typeface="Source Sans 3"/>
                  <a:cs typeface="Source Sans 3"/>
                  <a:sym typeface="Source Sans 3"/>
                </a:rPr>
                <a:t>• Permissions can hide selected metadata</a:t>
              </a:r>
            </a:p>
            <a:p>
              <a:pPr algn="l"/>
              <a:r>
                <a:rPr lang="en-US" sz="2800" dirty="0">
                  <a:latin typeface="Source Sans 3"/>
                  <a:ea typeface="Source Sans 3"/>
                  <a:cs typeface="Source Sans 3"/>
                  <a:sym typeface="Source Sans 3"/>
                </a:rPr>
                <a:t>• Very large trees may exceed terminal height</a:t>
              </a:r>
            </a:p>
            <a:p>
              <a:pPr algn="l"/>
              <a:r>
                <a:rPr lang="en-US" sz="2800" dirty="0">
                  <a:latin typeface="Source Sans 3"/>
                  <a:ea typeface="Source Sans 3"/>
                  <a:cs typeface="Source Sans 3"/>
                  <a:sym typeface="Source Sans 3"/>
                </a:rPr>
                <a:t>• ANSI behavior varies across terminals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20250" y="2000250"/>
            <a:ext cx="7524750" cy="5238750"/>
            <a:chOff x="0" y="0"/>
            <a:chExt cx="10033000" cy="6985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0033000" cy="6985000"/>
              <a:chOff x="0" y="0"/>
              <a:chExt cx="10033000" cy="6985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033000" cy="69850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6985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6985000"/>
                    </a:lnTo>
                    <a:lnTo>
                      <a:pt x="0" y="6985000"/>
                    </a:lnTo>
                    <a:close/>
                  </a:path>
                </a:pathLst>
              </a:custGeom>
              <a:solidFill>
                <a:srgbClr val="DCEBE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0033000" cy="702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635000" y="406400"/>
              <a:ext cx="8255000" cy="515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800" b="1" dirty="0">
                  <a:solidFill>
                    <a:srgbClr val="2F7D5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POTENTIAL IMPROVEMENTS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000" y="1368425"/>
              <a:ext cx="8255000" cy="45961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00" dirty="0">
                  <a:latin typeface="Source Sans 3"/>
                  <a:ea typeface="Source Sans 3"/>
                  <a:cs typeface="Source Sans 3"/>
                  <a:sym typeface="Source Sans 3"/>
                </a:rPr>
                <a:t>• Search, filtering, and collapsed branches</a:t>
              </a:r>
            </a:p>
            <a:p>
              <a:pPr algn="l"/>
              <a:r>
                <a:rPr lang="en-US" sz="2800" dirty="0">
                  <a:latin typeface="Source Sans 3"/>
                  <a:ea typeface="Source Sans 3"/>
                  <a:cs typeface="Source Sans 3"/>
                  <a:sym typeface="Source Sans 3"/>
                </a:rPr>
                <a:t>• Configurable columns and refresh rate</a:t>
              </a:r>
            </a:p>
            <a:p>
              <a:pPr algn="l"/>
              <a:r>
                <a:rPr lang="en-US" sz="2800" dirty="0">
                  <a:latin typeface="Source Sans 3"/>
                  <a:ea typeface="Source Sans 3"/>
                  <a:cs typeface="Source Sans 3"/>
                  <a:sym typeface="Source Sans 3"/>
                </a:rPr>
                <a:t>• Color only when terminal capability allows</a:t>
              </a:r>
            </a:p>
            <a:p>
              <a:pPr algn="l"/>
              <a:r>
                <a:rPr lang="en-US" sz="2800" dirty="0">
                  <a:latin typeface="Source Sans 3"/>
                  <a:ea typeface="Source Sans 3"/>
                  <a:cs typeface="Source Sans 3"/>
                  <a:sym typeface="Source Sans 3"/>
                </a:rPr>
                <a:t>• Export a snapshot to text or JSON</a:t>
              </a:r>
            </a:p>
            <a:p>
              <a:pPr algn="l"/>
              <a:r>
                <a:rPr lang="en-US" sz="2800" dirty="0">
                  <a:latin typeface="Source Sans 3"/>
                  <a:ea typeface="Source Sans 3"/>
                  <a:cs typeface="Source Sans 3"/>
                  <a:sym typeface="Source Sans 3"/>
                </a:rPr>
                <a:t>• Add automated fixtures for parser edge cases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24000" y="8048625"/>
            <a:ext cx="15240000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800" b="1" dirty="0">
                <a:solidFill>
                  <a:srgbClr val="0D24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Impact: a small, inspectable tool that connects operating-systems theory with real kernel-exposed process data.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A87AD94-78F4-F6A0-9367-13DE07B68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82" y="91672"/>
            <a:ext cx="2476036" cy="12581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28600" cy="10287000"/>
            <a:chOff x="0" y="0"/>
            <a:chExt cx="3048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4800" cy="13716000"/>
            </a:xfrm>
            <a:custGeom>
              <a:avLst/>
              <a:gdLst/>
              <a:ahLst/>
              <a:cxnLst/>
              <a:rect l="l" t="t" r="r" b="b"/>
              <a:pathLst>
                <a:path w="304800" h="13716000">
                  <a:moveTo>
                    <a:pt x="0" y="0"/>
                  </a:moveTo>
                  <a:lnTo>
                    <a:pt x="304800" y="0"/>
                  </a:lnTo>
                  <a:lnTo>
                    <a:pt x="304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F7D5B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48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47750" y="1485900"/>
            <a:ext cx="10477500" cy="1917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16"/>
              </a:lnSpc>
            </a:pPr>
            <a:r>
              <a:rPr lang="en-US" sz="7200" b="1" dirty="0">
                <a:latin typeface="IBM Plex Sans Bold"/>
                <a:ea typeface="IBM Plex Sans Bold"/>
                <a:cs typeface="IBM Plex Sans Bold"/>
                <a:sym typeface="IBM Plex Sans Bold"/>
              </a:rPr>
              <a:t>Linux Process</a:t>
            </a:r>
          </a:p>
          <a:p>
            <a:pPr algn="l">
              <a:lnSpc>
                <a:spcPts val="7416"/>
              </a:lnSpc>
            </a:pPr>
            <a:r>
              <a:rPr lang="en-US" sz="7200" b="1" dirty="0">
                <a:latin typeface="IBM Plex Sans Bold"/>
                <a:ea typeface="IBM Plex Sans Bold"/>
                <a:cs typeface="IBM Plex Sans Bold"/>
                <a:sym typeface="IBM Plex Sans Bold"/>
              </a:rPr>
              <a:t>Tree Visualizer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6191250"/>
            <a:ext cx="1333500" cy="47625"/>
            <a:chOff x="0" y="0"/>
            <a:chExt cx="1778000" cy="63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78000" cy="63500"/>
            </a:xfrm>
            <a:custGeom>
              <a:avLst/>
              <a:gdLst/>
              <a:ahLst/>
              <a:cxnLst/>
              <a:rect l="l" t="t" r="r" b="b"/>
              <a:pathLst>
                <a:path w="1778000" h="63500">
                  <a:moveTo>
                    <a:pt x="0" y="0"/>
                  </a:moveTo>
                  <a:lnTo>
                    <a:pt x="1778000" y="0"/>
                  </a:lnTo>
                  <a:lnTo>
                    <a:pt x="1778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7FC49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78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solidFill>
                  <a:srgbClr val="2F7D5B"/>
                </a:solidFill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47750" y="3971925"/>
            <a:ext cx="12858750" cy="825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800" dirty="0">
                <a:solidFill>
                  <a:srgbClr val="2F7D5B"/>
                </a:solidFill>
                <a:latin typeface="Source Sans 3"/>
                <a:ea typeface="Source Sans 3"/>
                <a:cs typeface="Source Sans 3"/>
                <a:sym typeface="Source Sans 3"/>
              </a:rPr>
              <a:t>From /proc records to a live hierarchy: scan safely, link accurately, render clearly, and exit cleanly.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750" y="6629400"/>
            <a:ext cx="33337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2F7D5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VIVA TAKEAWAY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750" y="7153275"/>
            <a:ext cx="13811250" cy="90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dirty="0">
                <a:latin typeface="Source Sans 3"/>
                <a:ea typeface="Source Sans 3"/>
                <a:cs typeface="Source Sans 3"/>
                <a:sym typeface="Source Sans 3"/>
              </a:rPr>
              <a:t>The project demonstrates practical Linux systems programming through filesystem parsing, POSIX control flow, signal handling, and tree traversal.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6B1C4C6-A496-17DE-333B-6AA24E510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82" y="91672"/>
            <a:ext cx="2476036" cy="12581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1196</Words>
  <Application>Microsoft Office PowerPoint</Application>
  <PresentationFormat>Custom</PresentationFormat>
  <Paragraphs>212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IBM Plex Mono Bold</vt:lpstr>
      <vt:lpstr>IBM Plex Mono</vt:lpstr>
      <vt:lpstr>Arial</vt:lpstr>
      <vt:lpstr>IBM Plex Sans Bold</vt:lpstr>
      <vt:lpstr>Calibri</vt:lpstr>
      <vt:lpstr>Source Sans 3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Process Tree</dc:title>
  <cp:lastModifiedBy>Simran Jangid</cp:lastModifiedBy>
  <cp:revision>3</cp:revision>
  <dcterms:created xsi:type="dcterms:W3CDTF">2006-08-16T00:00:00Z</dcterms:created>
  <dcterms:modified xsi:type="dcterms:W3CDTF">2026-10-17T04:49:55Z</dcterms:modified>
  <dc:identifier>DAHYLajhKbQ</dc:identifier>
</cp:coreProperties>
</file>